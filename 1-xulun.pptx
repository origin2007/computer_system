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3"/>
    <p:sldId id="258" r:id="rId4"/>
    <p:sldId id="257" r:id="rId5"/>
    <p:sldId id="259" r:id="rId6"/>
    <p:sldId id="260" r:id="rId7"/>
    <p:sldId id="261" r:id="rId8"/>
    <p:sldId id="262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2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41" d="100"/>
          <a:sy n="41" d="100"/>
        </p:scale>
        <p:origin x="1794" y="5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4" Type="http://schemas.openxmlformats.org/officeDocument/2006/relationships/tableStyles" Target="tableStyles.xml"/><Relationship Id="rId33" Type="http://schemas.openxmlformats.org/officeDocument/2006/relationships/viewProps" Target="viewProps.xml"/><Relationship Id="rId32" Type="http://schemas.openxmlformats.org/officeDocument/2006/relationships/presProps" Target="presProps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dirty="0"/>
            </a:fld>
            <a:endParaRPr lang="zh-CN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8060402020202020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p>
            <a:r>
              <a:rPr lang="x-none" altLang="en-US"/>
              <a:t>计算机控制与接口技术</a:t>
            </a:r>
            <a:br>
              <a:rPr lang="x-none" altLang="en-US"/>
            </a:br>
            <a:r>
              <a:rPr lang="x-none" altLang="en-US">
                <a:sym typeface="+mn-ea"/>
              </a:rPr>
              <a:t>1：课程介绍与绪论</a:t>
            </a:r>
            <a:endParaRPr lang="x-none" alt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x-none" altLang="en-US"/>
          </a:p>
          <a:p>
            <a:r>
              <a:rPr lang="x-none" altLang="en-US"/>
              <a:t>主讲：李晓明</a:t>
            </a:r>
            <a:endParaRPr lang="x-none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x-none" altLang="en-US"/>
              <a:t>本课程的背景</a:t>
            </a:r>
            <a:endParaRPr lang="x-none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x-none" altLang="en-US"/>
              <a:t>面向工程应用</a:t>
            </a:r>
            <a:endParaRPr lang="x-none" altLang="en-US"/>
          </a:p>
          <a:p>
            <a:r>
              <a:rPr lang="x-none" altLang="en-US"/>
              <a:t>面向非机电专业背景的学生</a:t>
            </a:r>
            <a:endParaRPr lang="x-none" altLang="en-US"/>
          </a:p>
          <a:p>
            <a:r>
              <a:rPr lang="x-none" altLang="en-US"/>
              <a:t>经历过几次变革</a:t>
            </a:r>
            <a:endParaRPr lang="x-none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x-none" altLang="en-US"/>
              <a:t>计算机控制技术与机电系统的关系</a:t>
            </a:r>
            <a:endParaRPr lang="x-none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x-none" altLang="en-US"/>
              <a:t>机电系统的重要组成部分</a:t>
            </a:r>
            <a:endParaRPr lang="x-none" altLang="en-US"/>
          </a:p>
          <a:p>
            <a:r>
              <a:rPr lang="x-none" altLang="en-US"/>
              <a:t>解决机电系统智能化，自动化和信息化等问题的关键</a:t>
            </a:r>
            <a:endParaRPr lang="x-none" altLang="en-US"/>
          </a:p>
          <a:p>
            <a:r>
              <a:rPr lang="x-none" altLang="en-US"/>
              <a:t>本课程更偏重于“系统”</a:t>
            </a:r>
            <a:endParaRPr lang="x-none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x-none" altLang="en-US"/>
              <a:t>计算机控制系统的组成部分</a:t>
            </a:r>
            <a:endParaRPr lang="x-none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x-none" altLang="en-US"/>
              <a:t>计算机</a:t>
            </a:r>
            <a:endParaRPr lang="x-none" altLang="en-US"/>
          </a:p>
          <a:p>
            <a:r>
              <a:rPr lang="x-none" altLang="en-US"/>
              <a:t>接口</a:t>
            </a:r>
            <a:endParaRPr lang="x-none" altLang="en-US"/>
          </a:p>
          <a:p>
            <a:pPr lvl="1"/>
            <a:r>
              <a:rPr lang="x-none" altLang="en-US" sz="2400"/>
              <a:t>输入输出通道</a:t>
            </a:r>
            <a:endParaRPr lang="x-none" altLang="en-US" sz="2400"/>
          </a:p>
          <a:p>
            <a:pPr lvl="1"/>
            <a:r>
              <a:rPr lang="x-none" altLang="en-US" sz="2400"/>
              <a:t>传感器/执行器</a:t>
            </a:r>
            <a:endParaRPr lang="x-none" altLang="en-US" sz="2400"/>
          </a:p>
          <a:p>
            <a:r>
              <a:rPr lang="x-none" altLang="en-US"/>
              <a:t>软件</a:t>
            </a:r>
            <a:endParaRPr lang="x-none" altLang="en-US"/>
          </a:p>
          <a:p>
            <a:pPr lvl="1"/>
            <a:r>
              <a:rPr lang="x-none" altLang="en-US"/>
              <a:t>控制理论与方法</a:t>
            </a:r>
            <a:endParaRPr lang="x-none" altLang="en-US"/>
          </a:p>
          <a:p>
            <a:pPr lvl="1"/>
            <a:r>
              <a:rPr lang="x-none" altLang="en-US"/>
              <a:t>软件实现</a:t>
            </a:r>
            <a:endParaRPr lang="x-none" altLang="en-US"/>
          </a:p>
          <a:p>
            <a:pPr lvl="1"/>
            <a:r>
              <a:rPr lang="x-none" altLang="en-US"/>
              <a:t>数据</a:t>
            </a:r>
            <a:endParaRPr lang="x-none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x-none" altLang="en-US"/>
              <a:t>本课程的目的</a:t>
            </a:r>
            <a:endParaRPr lang="x-none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x-none" altLang="en-US"/>
              <a:t>开发典型的机电控制系统</a:t>
            </a:r>
            <a:endParaRPr lang="x-none" altLang="en-US"/>
          </a:p>
          <a:p>
            <a:r>
              <a:rPr lang="x-none" altLang="en-US"/>
              <a:t>编制机电系统控制软件</a:t>
            </a:r>
            <a:endParaRPr lang="x-none" altLang="en-US"/>
          </a:p>
          <a:p>
            <a:r>
              <a:rPr lang="x-none" altLang="en-US"/>
              <a:t>选择或者设计相应的控制算法</a:t>
            </a:r>
            <a:endParaRPr lang="x-none" altLang="en-US"/>
          </a:p>
          <a:p>
            <a:r>
              <a:rPr lang="x-none" altLang="en-US"/>
              <a:t>系统实现，解决调试中出现的问题</a:t>
            </a:r>
            <a:endParaRPr lang="x-none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x-none" altLang="en-US"/>
              <a:t>本课程授课方法</a:t>
            </a:r>
            <a:endParaRPr lang="x-none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x-none" altLang="en-US"/>
              <a:t>以讲座的方式进行</a:t>
            </a:r>
            <a:endParaRPr lang="x-none" altLang="en-US"/>
          </a:p>
          <a:p>
            <a:r>
              <a:rPr lang="x-none" altLang="en-US"/>
              <a:t>强调工程实践</a:t>
            </a:r>
            <a:endParaRPr lang="x-none" altLang="en-US"/>
          </a:p>
          <a:p>
            <a:r>
              <a:rPr lang="x-none" altLang="en-US"/>
              <a:t>强调软件的重要性以及软件的开发能力</a:t>
            </a:r>
            <a:endParaRPr lang="x-none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x-none" altLang="en-US"/>
              <a:t>绪论</a:t>
            </a:r>
            <a:endParaRPr lang="x-none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2" name="Title 5121"/>
          <p:cNvSpPr>
            <a:spLocks noGrp="1"/>
          </p:cNvSpPr>
          <p:nvPr>
            <p:ph type="title"/>
          </p:nvPr>
        </p:nvSpPr>
        <p:spPr/>
        <p:txBody>
          <a:bodyPr anchor="ctr"/>
          <a:p>
            <a:r>
              <a:rPr dirty="0"/>
              <a:t>计算机控制系统</a:t>
            </a:r>
            <a:endParaRPr dirty="0"/>
          </a:p>
        </p:txBody>
      </p:sp>
      <p:sp>
        <p:nvSpPr>
          <p:cNvPr id="5123" name="Text Placeholder 5122"/>
          <p:cNvSpPr>
            <a:spLocks noGrp="1"/>
          </p:cNvSpPr>
          <p:nvPr>
            <p:ph type="body" idx="1"/>
          </p:nvPr>
        </p:nvSpPr>
        <p:spPr/>
        <p:txBody>
          <a:bodyPr/>
          <a:p>
            <a:pPr>
              <a:lnSpc>
                <a:spcPct val="80000"/>
              </a:lnSpc>
            </a:pPr>
            <a:r>
              <a:rPr sz="2800" dirty="0"/>
              <a:t>计算机技术是以计算机，自动控制理论和自动化仪表等项技术为基础，将这些技术集成起来构成计算机控制系统</a:t>
            </a:r>
            <a:endParaRPr sz="2800" dirty="0"/>
          </a:p>
          <a:p>
            <a:pPr>
              <a:lnSpc>
                <a:spcPct val="80000"/>
              </a:lnSpc>
            </a:pPr>
            <a:r>
              <a:rPr sz="2800" dirty="0"/>
              <a:t>典型计算机控制系统包括</a:t>
            </a:r>
            <a:endParaRPr sz="2800" dirty="0"/>
          </a:p>
          <a:p>
            <a:pPr lvl="1">
              <a:lnSpc>
                <a:spcPct val="80000"/>
              </a:lnSpc>
            </a:pPr>
            <a:r>
              <a:rPr sz="2300" dirty="0"/>
              <a:t>计算机巡回检测和操作指导系统</a:t>
            </a:r>
            <a:endParaRPr sz="2300" dirty="0"/>
          </a:p>
          <a:p>
            <a:pPr lvl="1">
              <a:lnSpc>
                <a:spcPct val="80000"/>
              </a:lnSpc>
            </a:pPr>
            <a:r>
              <a:rPr sz="2300" dirty="0"/>
              <a:t>计算机直接数字控制（DDC）</a:t>
            </a:r>
            <a:endParaRPr sz="2300" dirty="0"/>
          </a:p>
          <a:p>
            <a:pPr lvl="1">
              <a:lnSpc>
                <a:spcPct val="80000"/>
              </a:lnSpc>
            </a:pPr>
            <a:r>
              <a:rPr sz="2300" dirty="0"/>
              <a:t>可编程控制器系统（PCS）</a:t>
            </a:r>
            <a:endParaRPr sz="2300" dirty="0"/>
          </a:p>
          <a:p>
            <a:pPr lvl="1">
              <a:lnSpc>
                <a:spcPct val="80000"/>
              </a:lnSpc>
            </a:pPr>
            <a:r>
              <a:rPr sz="2300" dirty="0"/>
              <a:t>计算机监督控制系统（SCC）</a:t>
            </a:r>
            <a:endParaRPr sz="2300" dirty="0"/>
          </a:p>
          <a:p>
            <a:pPr lvl="1">
              <a:lnSpc>
                <a:spcPct val="80000"/>
              </a:lnSpc>
            </a:pPr>
            <a:r>
              <a:rPr sz="2300" dirty="0"/>
              <a:t>现场总线控制系统（FCS）</a:t>
            </a:r>
            <a:endParaRPr sz="2300" dirty="0"/>
          </a:p>
          <a:p>
            <a:pPr lvl="1">
              <a:lnSpc>
                <a:spcPct val="80000"/>
              </a:lnSpc>
            </a:pPr>
            <a:r>
              <a:rPr sz="2300" dirty="0"/>
              <a:t>计算机集成制造系统（CIMS）</a:t>
            </a:r>
            <a:endParaRPr sz="2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Title 7169"/>
          <p:cNvSpPr>
            <a:spLocks noGrp="1"/>
          </p:cNvSpPr>
          <p:nvPr>
            <p:ph type="title"/>
          </p:nvPr>
        </p:nvSpPr>
        <p:spPr/>
        <p:txBody>
          <a:bodyPr anchor="ctr"/>
          <a:p>
            <a:r>
              <a:rPr dirty="0"/>
              <a:t>计算机控制系统的工作原理</a:t>
            </a:r>
            <a:endParaRPr dirty="0"/>
          </a:p>
        </p:txBody>
      </p:sp>
      <p:pic>
        <p:nvPicPr>
          <p:cNvPr id="7172" name="Picture 7171"/>
          <p:cNvPicPr>
            <a:picLocks noChangeAspect="1"/>
          </p:cNvPicPr>
          <p:nvPr/>
        </p:nvPicPr>
        <p:blipFill>
          <a:blip r:embed="rId1"/>
          <a:srcRect l="3621" t="3557" r="2184" b="3201"/>
          <a:stretch>
            <a:fillRect/>
          </a:stretch>
        </p:blipFill>
        <p:spPr>
          <a:xfrm>
            <a:off x="2279650" y="1628775"/>
            <a:ext cx="8064500" cy="4559300"/>
          </a:xfrm>
          <a:prstGeom prst="rect">
            <a:avLst/>
          </a:prstGeom>
          <a:noFill/>
          <a:ln w="9525">
            <a:noFill/>
            <a:miter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6" name="Title 21505"/>
          <p:cNvSpPr>
            <a:spLocks noGrp="1"/>
          </p:cNvSpPr>
          <p:nvPr>
            <p:ph type="title"/>
          </p:nvPr>
        </p:nvSpPr>
        <p:spPr/>
        <p:txBody>
          <a:bodyPr anchor="ctr"/>
          <a:p>
            <a:r>
              <a:rPr dirty="0"/>
              <a:t>计算机控制系统的信号流程</a:t>
            </a:r>
            <a:endParaRPr dirty="0"/>
          </a:p>
        </p:txBody>
      </p:sp>
      <p:pic>
        <p:nvPicPr>
          <p:cNvPr id="21508" name="Picture 2150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92313" y="2133600"/>
            <a:ext cx="8151812" cy="3295650"/>
          </a:xfrm>
          <a:prstGeom prst="rect">
            <a:avLst/>
          </a:prstGeom>
          <a:noFill/>
          <a:ln w="9525">
            <a:noFill/>
            <a:miter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6" name="Title 6145"/>
          <p:cNvSpPr>
            <a:spLocks noGrp="1"/>
          </p:cNvSpPr>
          <p:nvPr>
            <p:ph type="title"/>
          </p:nvPr>
        </p:nvSpPr>
        <p:spPr/>
        <p:txBody>
          <a:bodyPr anchor="ctr"/>
          <a:p>
            <a:r>
              <a:rPr dirty="0"/>
              <a:t>计算机在控制系统中的作用</a:t>
            </a:r>
            <a:endParaRPr dirty="0"/>
          </a:p>
        </p:txBody>
      </p:sp>
      <p:sp>
        <p:nvSpPr>
          <p:cNvPr id="6147" name="Text Placeholder 6146"/>
          <p:cNvSpPr>
            <a:spLocks noGrp="1"/>
          </p:cNvSpPr>
          <p:nvPr>
            <p:ph type="body" idx="1"/>
          </p:nvPr>
        </p:nvSpPr>
        <p:spPr/>
        <p:txBody>
          <a:bodyPr/>
          <a:p>
            <a:pPr marL="609600" indent="-609600">
              <a:buAutoNum type="arabicPeriod"/>
            </a:pPr>
            <a:r>
              <a:rPr dirty="0"/>
              <a:t>实时数据处理</a:t>
            </a:r>
            <a:endParaRPr dirty="0"/>
          </a:p>
          <a:p>
            <a:pPr marL="609600" indent="-609600">
              <a:buAutoNum type="arabicPeriod"/>
            </a:pPr>
            <a:r>
              <a:rPr dirty="0"/>
              <a:t>实时监督决策</a:t>
            </a:r>
            <a:endParaRPr dirty="0"/>
          </a:p>
          <a:p>
            <a:pPr marL="609600" indent="-609600">
              <a:buAutoNum type="arabicPeriod"/>
            </a:pPr>
            <a:r>
              <a:rPr dirty="0"/>
              <a:t>实时控制输出</a:t>
            </a: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4" name="Title 8193"/>
          <p:cNvSpPr>
            <a:spLocks noGrp="1"/>
          </p:cNvSpPr>
          <p:nvPr>
            <p:ph type="title"/>
          </p:nvPr>
        </p:nvSpPr>
        <p:spPr/>
        <p:txBody>
          <a:bodyPr anchor="ctr"/>
          <a:p>
            <a:r>
              <a:rPr dirty="0"/>
              <a:t>计算机控制系统的工作方式</a:t>
            </a:r>
            <a:endParaRPr dirty="0"/>
          </a:p>
        </p:txBody>
      </p:sp>
      <p:sp>
        <p:nvSpPr>
          <p:cNvPr id="8195" name="Text Placeholder 8194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/>
              <a:t>在线方式和离线方式</a:t>
            </a:r>
            <a:endParaRPr dirty="0"/>
          </a:p>
          <a:p>
            <a:pPr lvl="1"/>
            <a:r>
              <a:rPr dirty="0"/>
              <a:t>生产过程和计算机直接相连</a:t>
            </a:r>
            <a:endParaRPr dirty="0"/>
          </a:p>
          <a:p>
            <a:pPr lvl="1"/>
            <a:r>
              <a:rPr dirty="0"/>
              <a:t>生产过程接受计算机直接控制</a:t>
            </a:r>
            <a:endParaRPr dirty="0"/>
          </a:p>
          <a:p>
            <a:r>
              <a:rPr dirty="0"/>
              <a:t>实时性</a:t>
            </a:r>
            <a:endParaRPr dirty="0"/>
          </a:p>
          <a:p>
            <a:pPr lvl="1"/>
            <a:r>
              <a:rPr dirty="0"/>
              <a:t>硬实时（Hard Real Time）</a:t>
            </a:r>
            <a:endParaRPr dirty="0"/>
          </a:p>
          <a:p>
            <a:pPr lvl="1"/>
            <a:r>
              <a:rPr dirty="0"/>
              <a:t>软实时（Soft Real Time）</a:t>
            </a:r>
            <a:endParaRPr dirty="0"/>
          </a:p>
          <a:p>
            <a:pPr lvl="1"/>
            <a:r>
              <a:rPr dirty="0"/>
              <a:t>非实时（Non-Real Time）</a:t>
            </a:r>
            <a:endParaRPr dirty="0"/>
          </a:p>
          <a:p>
            <a:pPr lvl="1"/>
            <a:r>
              <a:rPr dirty="0"/>
              <a:t>一个实时系统必定是一个在线系统</a:t>
            </a:r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8" name="Title 9217"/>
          <p:cNvSpPr>
            <a:spLocks noGrp="1"/>
          </p:cNvSpPr>
          <p:nvPr>
            <p:ph type="title"/>
          </p:nvPr>
        </p:nvSpPr>
        <p:spPr/>
        <p:txBody>
          <a:bodyPr anchor="ctr"/>
          <a:p>
            <a:r>
              <a:rPr dirty="0"/>
              <a:t>计算机控制系统的组成</a:t>
            </a:r>
            <a:endParaRPr dirty="0"/>
          </a:p>
        </p:txBody>
      </p:sp>
      <p:pic>
        <p:nvPicPr>
          <p:cNvPr id="9220" name="Picture 9219"/>
          <p:cNvPicPr>
            <a:picLocks noChangeAspect="1"/>
          </p:cNvPicPr>
          <p:nvPr/>
        </p:nvPicPr>
        <p:blipFill>
          <a:blip r:embed="rId1"/>
          <a:srcRect l="4459" t="5177" r="10535" b="17091"/>
          <a:stretch>
            <a:fillRect/>
          </a:stretch>
        </p:blipFill>
        <p:spPr>
          <a:xfrm>
            <a:off x="1919288" y="1700213"/>
            <a:ext cx="8424862" cy="3992562"/>
          </a:xfrm>
          <a:prstGeom prst="rect">
            <a:avLst/>
          </a:prstGeom>
          <a:noFill/>
          <a:ln w="9525">
            <a:noFill/>
            <a:miter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2532" name="Picture 2253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19288" y="1557338"/>
            <a:ext cx="8294687" cy="4124325"/>
          </a:xfrm>
          <a:prstGeom prst="rect">
            <a:avLst/>
          </a:prstGeom>
          <a:noFill/>
          <a:ln w="9525">
            <a:noFill/>
            <a:miter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770" name="Title 32769"/>
          <p:cNvSpPr>
            <a:spLocks noGrp="1"/>
          </p:cNvSpPr>
          <p:nvPr>
            <p:ph type="title"/>
          </p:nvPr>
        </p:nvSpPr>
        <p:spPr/>
        <p:txBody>
          <a:bodyPr anchor="ctr"/>
          <a:p>
            <a:r>
              <a:rPr dirty="0"/>
              <a:t>常用的控制计算机主机</a:t>
            </a:r>
            <a:endParaRPr dirty="0"/>
          </a:p>
        </p:txBody>
      </p:sp>
      <p:sp>
        <p:nvSpPr>
          <p:cNvPr id="32771" name="Text Placeholder 32770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t>PLC</a:t>
            </a:r>
          </a:p>
          <a:p>
            <a:pPr lvl="1"/>
            <a:r>
              <a:rPr dirty="0"/>
              <a:t>可靠性高</a:t>
            </a:r>
            <a:endParaRPr dirty="0"/>
          </a:p>
          <a:p>
            <a:pPr lvl="1"/>
            <a:r>
              <a:rPr dirty="0"/>
              <a:t>编程灵活</a:t>
            </a:r>
            <a:endParaRPr dirty="0"/>
          </a:p>
          <a:p>
            <a:pPr lvl="1"/>
            <a:r>
              <a:rPr dirty="0"/>
              <a:t>安装调试简单</a:t>
            </a:r>
            <a:endParaRPr dirty="0"/>
          </a:p>
          <a:p>
            <a:r>
              <a:t>IPC</a:t>
            </a:r>
          </a:p>
          <a:p>
            <a:pPr lvl="1"/>
            <a:r>
              <a:rPr dirty="0"/>
              <a:t>适应性强</a:t>
            </a:r>
            <a:endParaRPr dirty="0"/>
          </a:p>
          <a:p>
            <a:pPr lvl="1"/>
            <a:r>
              <a:rPr dirty="0"/>
              <a:t>接口产品丰富</a:t>
            </a:r>
            <a:endParaRPr dirty="0"/>
          </a:p>
          <a:p>
            <a:pPr lvl="1"/>
            <a:r>
              <a:rPr dirty="0"/>
              <a:t>软件丰富</a:t>
            </a:r>
            <a:endParaRPr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794" name="Title 33793"/>
          <p:cNvSpPr>
            <a:spLocks noGrp="1"/>
          </p:cNvSpPr>
          <p:nvPr>
            <p:ph type="title"/>
          </p:nvPr>
        </p:nvSpPr>
        <p:spPr/>
        <p:txBody>
          <a:bodyPr anchor="ctr"/>
          <a:p>
            <a:endParaRPr dirty="0"/>
          </a:p>
        </p:txBody>
      </p:sp>
      <p:sp>
        <p:nvSpPr>
          <p:cNvPr id="33795" name="Text Placeholder 33794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/>
              <a:t>单片机</a:t>
            </a:r>
            <a:r>
              <a:t>MCU</a:t>
            </a:r>
          </a:p>
          <a:p>
            <a:pPr lvl="1"/>
            <a:r>
              <a:rPr dirty="0"/>
              <a:t>体积小</a:t>
            </a:r>
            <a:endParaRPr dirty="0"/>
          </a:p>
          <a:p>
            <a:pPr lvl="1"/>
            <a:r>
              <a:rPr dirty="0"/>
              <a:t>价格低</a:t>
            </a:r>
            <a:endParaRPr dirty="0"/>
          </a:p>
          <a:p>
            <a:r>
              <a:t>DSP</a:t>
            </a:r>
          </a:p>
          <a:p>
            <a:pPr lvl="1"/>
            <a:r>
              <a:rPr dirty="0"/>
              <a:t>快速信号处理</a:t>
            </a:r>
            <a:endParaRPr dirty="0"/>
          </a:p>
          <a:p>
            <a:r>
              <a:rPr dirty="0"/>
              <a:t>智能调节器</a:t>
            </a:r>
            <a:endParaRPr dirty="0"/>
          </a:p>
          <a:p>
            <a:pPr lvl="1"/>
            <a:r>
              <a:rPr dirty="0"/>
              <a:t>过程控制仪表</a:t>
            </a:r>
            <a:endParaRPr dirty="0"/>
          </a:p>
          <a:p>
            <a:pPr lvl="1"/>
            <a:r>
              <a:rPr dirty="0"/>
              <a:t>具有通讯功能</a:t>
            </a:r>
            <a:endParaRPr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2" name="Title 10241"/>
          <p:cNvSpPr>
            <a:spLocks noGrp="1"/>
          </p:cNvSpPr>
          <p:nvPr>
            <p:ph type="title"/>
          </p:nvPr>
        </p:nvSpPr>
        <p:spPr/>
        <p:txBody>
          <a:bodyPr anchor="ctr"/>
          <a:p>
            <a:r>
              <a:rPr dirty="0"/>
              <a:t>计算机控制系统的分类</a:t>
            </a:r>
            <a:endParaRPr dirty="0"/>
          </a:p>
        </p:txBody>
      </p:sp>
      <p:sp>
        <p:nvSpPr>
          <p:cNvPr id="10243" name="Text Placeholder 10242"/>
          <p:cNvSpPr>
            <a:spLocks noGrp="1"/>
          </p:cNvSpPr>
          <p:nvPr>
            <p:ph type="body" sz="half" idx="1"/>
          </p:nvPr>
        </p:nvSpPr>
        <p:spPr>
          <a:xfrm>
            <a:off x="1981200" y="1600200"/>
            <a:ext cx="3035300" cy="4530725"/>
          </a:xfrm>
        </p:spPr>
        <p:txBody>
          <a:bodyPr/>
          <a:p>
            <a:r>
              <a:rPr sz="2800" kern="1200" dirty="0"/>
              <a:t>计算机巡回检测和操作指导系统</a:t>
            </a:r>
            <a:endParaRPr sz="2800" kern="1200" dirty="0"/>
          </a:p>
        </p:txBody>
      </p:sp>
      <p:pic>
        <p:nvPicPr>
          <p:cNvPr id="10244" name="Picture 1024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540000">
            <a:off x="5303838" y="1773238"/>
            <a:ext cx="5043487" cy="4427537"/>
          </a:xfrm>
          <a:prstGeom prst="rect">
            <a:avLst/>
          </a:prstGeom>
          <a:noFill/>
          <a:ln w="9525">
            <a:noFill/>
            <a:miter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Title 11265"/>
          <p:cNvSpPr>
            <a:spLocks noGrp="1"/>
          </p:cNvSpPr>
          <p:nvPr>
            <p:ph type="title"/>
          </p:nvPr>
        </p:nvSpPr>
        <p:spPr/>
        <p:txBody>
          <a:bodyPr anchor="ctr"/>
          <a:p>
            <a:r>
              <a:rPr dirty="0"/>
              <a:t>计算机控制系统的分类</a:t>
            </a:r>
            <a:endParaRPr dirty="0"/>
          </a:p>
        </p:txBody>
      </p:sp>
      <p:sp>
        <p:nvSpPr>
          <p:cNvPr id="11267" name="Text Placeholder 11266"/>
          <p:cNvSpPr>
            <a:spLocks noGrp="1"/>
          </p:cNvSpPr>
          <p:nvPr>
            <p:ph type="body" idx="1"/>
          </p:nvPr>
        </p:nvSpPr>
        <p:spPr>
          <a:xfrm>
            <a:off x="1828800" y="1981200"/>
            <a:ext cx="3619500" cy="4184650"/>
          </a:xfrm>
        </p:spPr>
        <p:txBody>
          <a:bodyPr/>
          <a:p>
            <a:r>
              <a:rPr dirty="0"/>
              <a:t>计算机直接数字控制系统</a:t>
            </a:r>
            <a:endParaRPr dirty="0"/>
          </a:p>
        </p:txBody>
      </p:sp>
      <p:pic>
        <p:nvPicPr>
          <p:cNvPr id="11268" name="Picture 1126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2400" y="1844675"/>
            <a:ext cx="5099050" cy="4270375"/>
          </a:xfrm>
          <a:prstGeom prst="rect">
            <a:avLst/>
          </a:prstGeom>
          <a:noFill/>
          <a:ln w="9525">
            <a:noFill/>
            <a:miter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90" name="Title 12289"/>
          <p:cNvSpPr>
            <a:spLocks noGrp="1"/>
          </p:cNvSpPr>
          <p:nvPr>
            <p:ph type="title"/>
          </p:nvPr>
        </p:nvSpPr>
        <p:spPr/>
        <p:txBody>
          <a:bodyPr anchor="ctr"/>
          <a:p>
            <a:r>
              <a:rPr dirty="0"/>
              <a:t>计算机控制系统的分类</a:t>
            </a:r>
            <a:endParaRPr dirty="0"/>
          </a:p>
        </p:txBody>
      </p:sp>
      <p:sp>
        <p:nvSpPr>
          <p:cNvPr id="12291" name="Text Placeholder 12290"/>
          <p:cNvSpPr>
            <a:spLocks noGrp="1"/>
          </p:cNvSpPr>
          <p:nvPr>
            <p:ph type="body" idx="1"/>
          </p:nvPr>
        </p:nvSpPr>
        <p:spPr>
          <a:xfrm>
            <a:off x="1981200" y="1600200"/>
            <a:ext cx="3322638" cy="2116138"/>
          </a:xfrm>
        </p:spPr>
        <p:txBody>
          <a:bodyPr/>
          <a:p>
            <a:r>
              <a:rPr dirty="0"/>
              <a:t>计算机监督控制系统</a:t>
            </a:r>
            <a:endParaRPr dirty="0"/>
          </a:p>
        </p:txBody>
      </p:sp>
      <p:pic>
        <p:nvPicPr>
          <p:cNvPr id="12292" name="Picture 1229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75275" y="1557338"/>
            <a:ext cx="4752975" cy="4283075"/>
          </a:xfrm>
          <a:prstGeom prst="rect">
            <a:avLst/>
          </a:prstGeom>
          <a:noFill/>
          <a:ln w="9525">
            <a:noFill/>
            <a:miter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4" name="Title 13313"/>
          <p:cNvSpPr>
            <a:spLocks noGrp="1"/>
          </p:cNvSpPr>
          <p:nvPr>
            <p:ph type="title"/>
          </p:nvPr>
        </p:nvSpPr>
        <p:spPr/>
        <p:txBody>
          <a:bodyPr anchor="ctr"/>
          <a:p>
            <a:r>
              <a:rPr dirty="0"/>
              <a:t>计算机控制系统的分类</a:t>
            </a:r>
            <a:endParaRPr dirty="0"/>
          </a:p>
        </p:txBody>
      </p:sp>
      <p:sp>
        <p:nvSpPr>
          <p:cNvPr id="13315" name="Text Placeholder 13314"/>
          <p:cNvSpPr>
            <a:spLocks noGrp="1"/>
          </p:cNvSpPr>
          <p:nvPr>
            <p:ph type="body" idx="1"/>
          </p:nvPr>
        </p:nvSpPr>
        <p:spPr>
          <a:xfrm>
            <a:off x="1919288" y="1557338"/>
            <a:ext cx="3097212" cy="2189162"/>
          </a:xfrm>
        </p:spPr>
        <p:txBody>
          <a:bodyPr/>
          <a:p>
            <a:r>
              <a:rPr dirty="0"/>
              <a:t>计算机集散控制系统</a:t>
            </a:r>
            <a:endParaRPr dirty="0"/>
          </a:p>
        </p:txBody>
      </p:sp>
      <p:pic>
        <p:nvPicPr>
          <p:cNvPr id="13316" name="Picture 1331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16500" y="1773238"/>
            <a:ext cx="5232400" cy="4002087"/>
          </a:xfrm>
          <a:prstGeom prst="rect">
            <a:avLst/>
          </a:prstGeom>
          <a:noFill/>
          <a:ln w="9525">
            <a:noFill/>
            <a:miter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8" name="Title 14337"/>
          <p:cNvSpPr>
            <a:spLocks noGrp="1"/>
          </p:cNvSpPr>
          <p:nvPr>
            <p:ph type="title"/>
          </p:nvPr>
        </p:nvSpPr>
        <p:spPr/>
        <p:txBody>
          <a:bodyPr anchor="ctr"/>
          <a:p>
            <a:r>
              <a:rPr dirty="0"/>
              <a:t>计算机控制系统的分类</a:t>
            </a:r>
            <a:endParaRPr dirty="0"/>
          </a:p>
        </p:txBody>
      </p:sp>
      <p:sp>
        <p:nvSpPr>
          <p:cNvPr id="14339" name="Text Placeholder 14338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/>
              <a:t>现场总线控制系统</a:t>
            </a:r>
            <a:endParaRPr dirty="0"/>
          </a:p>
          <a:p>
            <a:pPr lvl="1"/>
            <a:r>
              <a:rPr dirty="0"/>
              <a:t>数字化</a:t>
            </a:r>
            <a:endParaRPr dirty="0"/>
          </a:p>
          <a:p>
            <a:pPr lvl="1"/>
            <a:r>
              <a:rPr dirty="0"/>
              <a:t>分散的系统结构</a:t>
            </a:r>
            <a:endParaRPr dirty="0"/>
          </a:p>
          <a:p>
            <a:pPr lvl="1"/>
            <a:r>
              <a:rPr dirty="0"/>
              <a:t>互操作性好</a:t>
            </a:r>
            <a:endParaRPr dirty="0"/>
          </a:p>
          <a:p>
            <a:pPr lvl="1"/>
            <a:r>
              <a:rPr dirty="0"/>
              <a:t>开放性</a:t>
            </a:r>
            <a:endParaRPr dirty="0"/>
          </a:p>
          <a:p>
            <a:pPr lvl="1"/>
            <a:r>
              <a:rPr dirty="0"/>
              <a:t>可采用多种传输媒介和拓扑结构</a:t>
            </a:r>
            <a:endParaRPr dirty="0"/>
          </a:p>
          <a:p>
            <a:pPr lvl="1"/>
            <a:r>
              <a:rPr dirty="0"/>
              <a:t>二层结构</a:t>
            </a:r>
            <a:endParaRPr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2" name="Title 15361"/>
          <p:cNvSpPr>
            <a:spLocks noGrp="1"/>
          </p:cNvSpPr>
          <p:nvPr>
            <p:ph type="title"/>
          </p:nvPr>
        </p:nvSpPr>
        <p:spPr/>
        <p:txBody>
          <a:bodyPr anchor="ctr"/>
          <a:p>
            <a:r>
              <a:rPr dirty="0"/>
              <a:t>计算机控制系统的分类</a:t>
            </a:r>
            <a:endParaRPr dirty="0"/>
          </a:p>
        </p:txBody>
      </p:sp>
      <p:sp>
        <p:nvSpPr>
          <p:cNvPr id="15363" name="Text Placeholder 1536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/>
              <a:t>计算机集成制造系统</a:t>
            </a:r>
            <a:endParaRPr dirty="0"/>
          </a:p>
        </p:txBody>
      </p:sp>
      <p:pic>
        <p:nvPicPr>
          <p:cNvPr id="15364" name="Picture 1536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51088" y="2205038"/>
            <a:ext cx="7273925" cy="4171950"/>
          </a:xfrm>
          <a:prstGeom prst="rect">
            <a:avLst/>
          </a:prstGeom>
          <a:noFill/>
          <a:ln w="9525">
            <a:noFill/>
            <a:miter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4818" name="Title 34817"/>
          <p:cNvSpPr>
            <a:spLocks noGrp="1"/>
          </p:cNvSpPr>
          <p:nvPr>
            <p:ph type="title"/>
          </p:nvPr>
        </p:nvSpPr>
        <p:spPr/>
        <p:txBody>
          <a:bodyPr anchor="ctr"/>
          <a:p>
            <a:r>
              <a:rPr dirty="0"/>
              <a:t>计算机控制系统发展概况和趋势</a:t>
            </a:r>
            <a:endParaRPr dirty="0"/>
          </a:p>
        </p:txBody>
      </p:sp>
      <p:sp>
        <p:nvSpPr>
          <p:cNvPr id="34819" name="Text Placeholder 34818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/>
              <a:t>历史</a:t>
            </a:r>
            <a:endParaRPr dirty="0"/>
          </a:p>
          <a:p>
            <a:pPr lvl="1"/>
            <a:r>
              <a:rPr dirty="0"/>
              <a:t>开创时期（1955-1962）</a:t>
            </a:r>
            <a:endParaRPr dirty="0"/>
          </a:p>
          <a:p>
            <a:pPr lvl="1"/>
            <a:r>
              <a:rPr dirty="0"/>
              <a:t>直接数字控制时期（1962-1967）</a:t>
            </a:r>
            <a:endParaRPr dirty="0"/>
          </a:p>
          <a:p>
            <a:pPr lvl="1"/>
            <a:r>
              <a:rPr dirty="0"/>
              <a:t>小型计算机时期（1967-1972）</a:t>
            </a:r>
            <a:endParaRPr dirty="0"/>
          </a:p>
          <a:p>
            <a:pPr lvl="1"/>
            <a:r>
              <a:rPr dirty="0"/>
              <a:t>微型计算机时期（1972-Now）</a:t>
            </a:r>
            <a:endParaRPr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5842" name="Title 35841"/>
          <p:cNvSpPr>
            <a:spLocks noGrp="1"/>
          </p:cNvSpPr>
          <p:nvPr>
            <p:ph type="title"/>
          </p:nvPr>
        </p:nvSpPr>
        <p:spPr/>
        <p:txBody>
          <a:bodyPr anchor="ctr"/>
          <a:p>
            <a:endParaRPr dirty="0"/>
          </a:p>
        </p:txBody>
      </p:sp>
      <p:sp>
        <p:nvSpPr>
          <p:cNvPr id="35843" name="Text Placeholder 3584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/>
              <a:t>理论发展过程</a:t>
            </a:r>
            <a:endParaRPr dirty="0"/>
          </a:p>
          <a:p>
            <a:pPr lvl="1"/>
            <a:r>
              <a:rPr dirty="0"/>
              <a:t>采样定理：奈奎斯特/香农</a:t>
            </a:r>
            <a:endParaRPr dirty="0"/>
          </a:p>
          <a:p>
            <a:pPr lvl="1"/>
            <a:r>
              <a:rPr dirty="0"/>
              <a:t>差分方程</a:t>
            </a:r>
            <a:endParaRPr dirty="0"/>
          </a:p>
          <a:p>
            <a:pPr lvl="1"/>
            <a:r>
              <a:rPr dirty="0"/>
              <a:t>Z变换</a:t>
            </a:r>
            <a:endParaRPr dirty="0"/>
          </a:p>
          <a:p>
            <a:pPr lvl="1"/>
            <a:r>
              <a:rPr dirty="0"/>
              <a:t>状态空间理论</a:t>
            </a:r>
            <a:endParaRPr dirty="0"/>
          </a:p>
          <a:p>
            <a:pPr lvl="1"/>
            <a:r>
              <a:rPr dirty="0"/>
              <a:t>最优控制与随机控制</a:t>
            </a:r>
            <a:endParaRPr dirty="0"/>
          </a:p>
          <a:p>
            <a:pPr lvl="1"/>
            <a:r>
              <a:rPr dirty="0"/>
              <a:t>系统辨识与自适应控制</a:t>
            </a:r>
            <a:endParaRPr dirty="0"/>
          </a:p>
          <a:p>
            <a:pPr lvl="1"/>
            <a:r>
              <a:rPr dirty="0"/>
              <a:t>先进控制技术</a:t>
            </a:r>
            <a:endParaRPr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6866" name="Title 36865"/>
          <p:cNvSpPr>
            <a:spLocks noGrp="1"/>
          </p:cNvSpPr>
          <p:nvPr>
            <p:ph type="title"/>
          </p:nvPr>
        </p:nvSpPr>
        <p:spPr/>
        <p:txBody>
          <a:bodyPr anchor="ctr"/>
          <a:p>
            <a:endParaRPr dirty="0"/>
          </a:p>
        </p:txBody>
      </p:sp>
      <p:sp>
        <p:nvSpPr>
          <p:cNvPr id="36867" name="Text Placeholder 36866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/>
              <a:t>发展趋势</a:t>
            </a:r>
            <a:endParaRPr dirty="0"/>
          </a:p>
          <a:p>
            <a:pPr lvl="1"/>
            <a:r>
              <a:t>PLC</a:t>
            </a:r>
          </a:p>
          <a:p>
            <a:pPr lvl="1"/>
            <a:r>
              <a:rPr dirty="0"/>
              <a:t>现场总线</a:t>
            </a:r>
            <a:endParaRPr dirty="0"/>
          </a:p>
          <a:p>
            <a:pPr lvl="1"/>
            <a:r>
              <a:rPr dirty="0"/>
              <a:t>先进控制技术</a:t>
            </a:r>
            <a:endParaRPr dirty="0"/>
          </a:p>
          <a:p>
            <a:pPr lvl="1"/>
            <a:r>
              <a:rPr dirty="0"/>
              <a:t>网络化，扁平化，智能化和综合化</a:t>
            </a:r>
            <a:endParaRPr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4" name="Title 18433"/>
          <p:cNvSpPr>
            <a:spLocks noGrp="1"/>
          </p:cNvSpPr>
          <p:nvPr>
            <p:ph type="title"/>
          </p:nvPr>
        </p:nvSpPr>
        <p:spPr/>
        <p:txBody>
          <a:bodyPr anchor="ctr"/>
          <a:p>
            <a:r>
              <a:rPr dirty="0"/>
              <a:t>计算机控制系统的设计与实现</a:t>
            </a:r>
            <a:endParaRPr dirty="0"/>
          </a:p>
        </p:txBody>
      </p:sp>
      <p:sp>
        <p:nvSpPr>
          <p:cNvPr id="18435" name="Text Placeholder 18434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/>
              <a:t>实践性强</a:t>
            </a:r>
            <a:endParaRPr dirty="0"/>
          </a:p>
          <a:p>
            <a:r>
              <a:rPr dirty="0"/>
              <a:t>需要有自动控制理论和计算机控制技术方面的知识</a:t>
            </a:r>
            <a:endParaRPr dirty="0"/>
          </a:p>
          <a:p>
            <a:r>
              <a:rPr dirty="0"/>
              <a:t>需要熟悉被控的工业过程</a:t>
            </a:r>
            <a:endParaRPr dirty="0"/>
          </a:p>
          <a:p>
            <a:r>
              <a:rPr dirty="0"/>
              <a:t>对操作对象、使用的自动化仪表有相当的了解</a:t>
            </a:r>
            <a:endParaRPr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8" name="Title 19457"/>
          <p:cNvSpPr>
            <a:spLocks noGrp="1"/>
          </p:cNvSpPr>
          <p:nvPr>
            <p:ph type="title"/>
          </p:nvPr>
        </p:nvSpPr>
        <p:spPr/>
        <p:txBody>
          <a:bodyPr anchor="ctr"/>
          <a:p>
            <a:r>
              <a:rPr dirty="0"/>
              <a:t>设计实施计算机控制系统的一般步骤</a:t>
            </a:r>
            <a:endParaRPr dirty="0"/>
          </a:p>
        </p:txBody>
      </p:sp>
      <p:sp>
        <p:nvSpPr>
          <p:cNvPr id="19459" name="Text Placeholder 19458"/>
          <p:cNvSpPr>
            <a:spLocks noGrp="1"/>
          </p:cNvSpPr>
          <p:nvPr>
            <p:ph type="body" idx="1"/>
          </p:nvPr>
        </p:nvSpPr>
        <p:spPr/>
        <p:txBody>
          <a:bodyPr/>
          <a:p>
            <a:pPr marL="609600" indent="-609600">
              <a:buAutoNum type="arabicPeriod"/>
            </a:pPr>
            <a:r>
              <a:rPr dirty="0"/>
              <a:t>总体设计</a:t>
            </a:r>
            <a:endParaRPr dirty="0"/>
          </a:p>
          <a:p>
            <a:pPr marL="609600" indent="-609600">
              <a:buAutoNum type="arabicPeriod"/>
            </a:pPr>
            <a:r>
              <a:rPr dirty="0"/>
              <a:t>建立数学模型</a:t>
            </a:r>
            <a:endParaRPr dirty="0"/>
          </a:p>
          <a:p>
            <a:pPr marL="609600" indent="-609600">
              <a:buAutoNum type="arabicPeriod"/>
            </a:pPr>
            <a:r>
              <a:rPr dirty="0"/>
              <a:t>控制系统综合</a:t>
            </a:r>
            <a:endParaRPr dirty="0"/>
          </a:p>
          <a:p>
            <a:pPr marL="609600" indent="-609600">
              <a:buAutoNum type="arabicPeriod"/>
            </a:pPr>
            <a:r>
              <a:rPr dirty="0"/>
              <a:t>计算机硬件与控制系统工程化设计</a:t>
            </a:r>
            <a:endParaRPr dirty="0"/>
          </a:p>
          <a:p>
            <a:pPr marL="609600" indent="-609600">
              <a:buAutoNum type="arabicPeriod"/>
            </a:pPr>
            <a:r>
              <a:rPr dirty="0"/>
              <a:t>计算机软件设计</a:t>
            </a:r>
            <a:endParaRPr dirty="0"/>
          </a:p>
          <a:p>
            <a:pPr marL="609600" indent="-609600">
              <a:buAutoNum type="arabicPeriod"/>
            </a:pPr>
            <a:r>
              <a:rPr dirty="0"/>
              <a:t>调试与完善</a:t>
            </a:r>
            <a:endParaRPr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2" name="Title 20481"/>
          <p:cNvSpPr>
            <a:spLocks noGrp="1"/>
          </p:cNvSpPr>
          <p:nvPr>
            <p:ph type="title"/>
          </p:nvPr>
        </p:nvSpPr>
        <p:spPr/>
        <p:txBody>
          <a:bodyPr anchor="ctr"/>
          <a:p>
            <a:r>
              <a:rPr dirty="0"/>
              <a:t>计算机控制系统的设计方法</a:t>
            </a:r>
            <a:endParaRPr dirty="0"/>
          </a:p>
        </p:txBody>
      </p:sp>
      <p:sp>
        <p:nvSpPr>
          <p:cNvPr id="20483" name="Text Placeholder 2048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/>
              <a:t>模拟化设计方法</a:t>
            </a:r>
            <a:endParaRPr dirty="0"/>
          </a:p>
          <a:p>
            <a:pPr lvl="1"/>
            <a:r>
              <a:rPr dirty="0"/>
              <a:t>关键：合理选择采样时间和离散化方法</a:t>
            </a:r>
            <a:endParaRPr dirty="0"/>
          </a:p>
          <a:p>
            <a:r>
              <a:rPr dirty="0"/>
              <a:t>直接数字化设计方法</a:t>
            </a:r>
            <a:endParaRPr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4" name="Title 23553"/>
          <p:cNvSpPr>
            <a:spLocks noGrp="1"/>
          </p:cNvSpPr>
          <p:nvPr>
            <p:ph type="title"/>
          </p:nvPr>
        </p:nvSpPr>
        <p:spPr/>
        <p:txBody>
          <a:bodyPr anchor="ctr"/>
          <a:p>
            <a:r>
              <a:rPr dirty="0"/>
              <a:t>接下来的内容安排</a:t>
            </a:r>
            <a:endParaRPr dirty="0"/>
          </a:p>
        </p:txBody>
      </p:sp>
      <p:sp>
        <p:nvSpPr>
          <p:cNvPr id="23555" name="Text Placeholder 23554"/>
          <p:cNvSpPr>
            <a:spLocks noGrp="1"/>
          </p:cNvSpPr>
          <p:nvPr>
            <p:ph type="body" idx="1"/>
          </p:nvPr>
        </p:nvSpPr>
        <p:spPr/>
        <p:txBody>
          <a:bodyPr/>
          <a:p>
            <a:pPr>
              <a:lnSpc>
                <a:spcPct val="90000"/>
              </a:lnSpc>
            </a:pPr>
            <a:r>
              <a:rPr dirty="0"/>
              <a:t>原则</a:t>
            </a:r>
            <a:endParaRPr dirty="0"/>
          </a:p>
          <a:p>
            <a:pPr lvl="1">
              <a:lnSpc>
                <a:spcPct val="90000"/>
              </a:lnSpc>
            </a:pPr>
            <a:r>
              <a:rPr dirty="0"/>
              <a:t>先硬件后软件</a:t>
            </a:r>
            <a:endParaRPr dirty="0"/>
          </a:p>
          <a:p>
            <a:pPr lvl="1">
              <a:lnSpc>
                <a:spcPct val="90000"/>
              </a:lnSpc>
            </a:pPr>
            <a:r>
              <a:rPr dirty="0"/>
              <a:t>先工程后理论</a:t>
            </a:r>
            <a:endParaRPr dirty="0"/>
          </a:p>
          <a:p>
            <a:pPr lvl="1">
              <a:lnSpc>
                <a:spcPct val="90000"/>
              </a:lnSpc>
            </a:pPr>
            <a:r>
              <a:rPr dirty="0"/>
              <a:t>先接口后核心</a:t>
            </a:r>
            <a:endParaRPr dirty="0"/>
          </a:p>
          <a:p>
            <a:pPr>
              <a:lnSpc>
                <a:spcPct val="90000"/>
              </a:lnSpc>
            </a:pPr>
            <a:r>
              <a:rPr dirty="0"/>
              <a:t>内容提要</a:t>
            </a:r>
            <a:endParaRPr dirty="0"/>
          </a:p>
          <a:p>
            <a:pPr lvl="1">
              <a:lnSpc>
                <a:spcPct val="90000"/>
              </a:lnSpc>
            </a:pPr>
            <a:r>
              <a:rPr dirty="0"/>
              <a:t>计算机接口技术（DIO，AI，AO）</a:t>
            </a:r>
            <a:endParaRPr dirty="0"/>
          </a:p>
          <a:p>
            <a:pPr lvl="1">
              <a:lnSpc>
                <a:spcPct val="90000"/>
              </a:lnSpc>
            </a:pPr>
            <a:r>
              <a:rPr dirty="0"/>
              <a:t>抗干扰技术</a:t>
            </a:r>
            <a:endParaRPr dirty="0"/>
          </a:p>
          <a:p>
            <a:pPr lvl="1">
              <a:lnSpc>
                <a:spcPct val="90000"/>
              </a:lnSpc>
            </a:pPr>
            <a:r>
              <a:rPr dirty="0"/>
              <a:t>数字系设计</a:t>
            </a:r>
            <a:endParaRPr dirty="0"/>
          </a:p>
          <a:p>
            <a:pPr lvl="1">
              <a:lnSpc>
                <a:spcPct val="90000"/>
              </a:lnSpc>
            </a:pPr>
            <a:r>
              <a:rPr dirty="0"/>
              <a:t>计算机控制软件设计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1246</Words>
  <Application>Kingsoft Office WPP</Application>
  <PresentationFormat>Widescreen</PresentationFormat>
  <Paragraphs>183</Paragraphs>
  <Slides>29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29</vt:i4>
      </vt:variant>
    </vt:vector>
  </HeadingPairs>
  <TitlesOfParts>
    <vt:vector size="30" baseType="lpstr">
      <vt:lpstr>Office Theme</vt:lpstr>
      <vt:lpstr>计算机控制与接口技术 1：课程介绍与绪论</vt:lpstr>
      <vt:lpstr>本课程的背景</vt:lpstr>
      <vt:lpstr>计算机控制技术与机电系统的关系</vt:lpstr>
      <vt:lpstr>计算机控制系统的组成部分</vt:lpstr>
      <vt:lpstr>本课程的目的</vt:lpstr>
      <vt:lpstr>本课程授课方法</vt:lpstr>
      <vt:lpstr>绪论</vt:lpstr>
      <vt:lpstr>计算机控制系统</vt:lpstr>
      <vt:lpstr>计算机控制系统的工作原理</vt:lpstr>
      <vt:lpstr>计算机控制系统的信号流程</vt:lpstr>
      <vt:lpstr>计算机在控制系统中的作用</vt:lpstr>
      <vt:lpstr>计算机控制系统的工作方式</vt:lpstr>
      <vt:lpstr>计算机控制系统的组成</vt:lpstr>
      <vt:lpstr>PowerPoint 演示文稿</vt:lpstr>
      <vt:lpstr>常用的控制计算机主机</vt:lpstr>
      <vt:lpstr>PowerPoint 演示文稿</vt:lpstr>
      <vt:lpstr>计算机控制系统的分类</vt:lpstr>
      <vt:lpstr>计算机控制系统的分类</vt:lpstr>
      <vt:lpstr>计算机控制系统的分类</vt:lpstr>
      <vt:lpstr>计算机控制系统的分类</vt:lpstr>
      <vt:lpstr>计算机控制系统的分类</vt:lpstr>
      <vt:lpstr>计算机控制系统的分类</vt:lpstr>
      <vt:lpstr>计算机控制系统发展概况和趋势</vt:lpstr>
      <vt:lpstr>PowerPoint 演示文稿</vt:lpstr>
      <vt:lpstr>PowerPoint 演示文稿</vt:lpstr>
      <vt:lpstr>计算机控制系统的设计与实现</vt:lpstr>
      <vt:lpstr>设计实施计算机控制系统的一般步骤</vt:lpstr>
      <vt:lpstr>计算机控制系统的设计方法</vt:lpstr>
      <vt:lpstr>接下来的内容安排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计算机控制与接口技术 1：课程介绍与绪论</dc:title>
  <dc:creator>lxm</dc:creator>
  <cp:lastModifiedBy>lxm</cp:lastModifiedBy>
  <cp:revision>8</cp:revision>
  <dcterms:created xsi:type="dcterms:W3CDTF">2016-09-20T03:52:49Z</dcterms:created>
  <dcterms:modified xsi:type="dcterms:W3CDTF">2016-09-20T03:52:49Z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1033-10.1.0.5672</vt:lpwstr>
  </property>
</Properties>
</file>